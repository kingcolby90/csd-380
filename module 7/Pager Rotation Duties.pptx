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3"/>
  </p:notesMasterIdLst>
  <p:handoutMasterIdLst>
    <p:handoutMasterId r:id="rId14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7" r:id="rId18"/>
    <p:sldLayoutId id="214748369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hyperlink" Target="https://www.atlassian.com/incident-management/on-call/improving-on-cal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moss.sh/devops-monitoring/devops-on-call-rotation-setup/" TargetMode="External"/><Relationship Id="rId5" Type="http://schemas.openxmlformats.org/officeDocument/2006/relationships/hyperlink" Target="https://www.pagerduty.com/resources/incident-management-response/learn/call-rotations-schedules/" TargetMode="Externa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Rotation Duties in DevOps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680B27-9ABE-7B99-AE80-992E9BAE59BC}"/>
              </a:ext>
            </a:extLst>
          </p:cNvPr>
          <p:cNvSpPr txBox="1"/>
          <p:nvPr/>
        </p:nvSpPr>
        <p:spPr>
          <a:xfrm>
            <a:off x="1179576" y="4215384"/>
            <a:ext cx="3867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Inspired by Chapter 16 of The DevOps Handbook</a:t>
            </a:r>
          </a:p>
          <a:p>
            <a:r>
              <a:rPr lang="en-US" dirty="0"/>
              <a:t>Focus: Best practices for on‑call rotations</a:t>
            </a:r>
          </a:p>
          <a:p>
            <a:r>
              <a:rPr lang="en-US" dirty="0"/>
              <a:t>Sources: Google SRE, PagerDuty, MOSS</a:t>
            </a:r>
          </a:p>
          <a:p>
            <a:r>
              <a:rPr lang="en-US" dirty="0"/>
              <a:t>By: Colby king module 7.2 assignment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544" y="1451118"/>
            <a:ext cx="6398832" cy="1008618"/>
          </a:xfrm>
          <a:noFill/>
        </p:spPr>
        <p:txBody>
          <a:bodyPr anchor="ctr">
            <a:normAutofit/>
          </a:bodyPr>
          <a:lstStyle/>
          <a:p>
            <a:r>
              <a:rPr lang="en-US" sz="3200" dirty="0"/>
              <a:t>What Are Pager Rotation Duties?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F68592-E383-D8F7-C50C-CE61B82ED991}"/>
              </a:ext>
            </a:extLst>
          </p:cNvPr>
          <p:cNvSpPr txBox="1">
            <a:spLocks/>
          </p:cNvSpPr>
          <p:nvPr/>
        </p:nvSpPr>
        <p:spPr>
          <a:xfrm>
            <a:off x="4285488" y="2050050"/>
            <a:ext cx="6398832" cy="288618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• Pager rotation = structured on‑call schedule for incident response.</a:t>
            </a:r>
          </a:p>
          <a:p>
            <a:r>
              <a:rPr lang="en-US" dirty="0"/>
              <a:t>• Ensures 24/7 coverage for critical systems.</a:t>
            </a:r>
          </a:p>
          <a:p>
            <a:r>
              <a:rPr lang="en-US" dirty="0"/>
              <a:t>• Key in DevOps: “You build it, you run it.”</a:t>
            </a:r>
          </a:p>
          <a:p>
            <a:r>
              <a:rPr lang="en-US" dirty="0"/>
              <a:t>• Prevents downtime and protects customer trust.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671"/>
            <a:ext cx="9144000" cy="1204001"/>
          </a:xfrm>
          <a:noFill/>
        </p:spPr>
        <p:txBody>
          <a:bodyPr anchor="b"/>
          <a:lstStyle/>
          <a:p>
            <a:r>
              <a:rPr lang="en-US" dirty="0"/>
              <a:t>Why Pager Rotation Matters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B4E32A2-E1D6-96CA-AD48-81D5D3FF7B3B}"/>
              </a:ext>
            </a:extLst>
          </p:cNvPr>
          <p:cNvSpPr txBox="1">
            <a:spLocks/>
          </p:cNvSpPr>
          <p:nvPr/>
        </p:nvSpPr>
        <p:spPr>
          <a:xfrm>
            <a:off x="1167384" y="1345671"/>
            <a:ext cx="9144000" cy="212140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/>
              <a:t>• Modern systems run continuously; failures can cost millions per hour.</a:t>
            </a:r>
          </a:p>
          <a:p>
            <a:pPr algn="l"/>
            <a:r>
              <a:rPr lang="en-US" sz="1800" dirty="0"/>
              <a:t>• Rotations distribute responsibility fairly across engineers.</a:t>
            </a:r>
          </a:p>
          <a:p>
            <a:pPr algn="l"/>
            <a:r>
              <a:rPr lang="en-US" sz="1800" dirty="0"/>
              <a:t>• Builds accountability and ownership in DevOps teams.</a:t>
            </a:r>
          </a:p>
          <a:p>
            <a:pPr algn="l"/>
            <a:r>
              <a:rPr lang="en-US" sz="1800" dirty="0"/>
              <a:t>• Supports rapid incident detection and resolution.</a:t>
            </a: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2425192"/>
          </a:xfrm>
          <a:noFill/>
        </p:spPr>
        <p:txBody>
          <a:bodyPr>
            <a:noAutofit/>
          </a:bodyPr>
          <a:lstStyle/>
          <a:p>
            <a:r>
              <a:rPr lang="en-US" dirty="0"/>
              <a:t> Best Practices (Industry Standards)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072" y="3113592"/>
            <a:ext cx="5028565" cy="1894972"/>
          </a:xfrm>
          <a:noFill/>
        </p:spPr>
        <p:txBody>
          <a:bodyPr anchor="t"/>
          <a:lstStyle/>
          <a:p>
            <a:r>
              <a:rPr lang="en-US" dirty="0"/>
              <a:t>• Automate scheduling to reduce manual errors.</a:t>
            </a:r>
          </a:p>
          <a:p>
            <a:r>
              <a:rPr lang="en-US" dirty="0"/>
              <a:t>• Ensure global, multi‑time‑zone coverage for distributed teams.</a:t>
            </a:r>
          </a:p>
          <a:p>
            <a:r>
              <a:rPr lang="en-US" dirty="0"/>
              <a:t>• Define clear escalation policies.</a:t>
            </a:r>
          </a:p>
          <a:p>
            <a:r>
              <a:rPr lang="en-US" dirty="0"/>
              <a:t>• Limit pager load to avoid burnout.</a:t>
            </a:r>
          </a:p>
          <a:p>
            <a:r>
              <a:rPr lang="en-US" dirty="0"/>
              <a:t>• Provide overrides and flexibility for emergencies.</a:t>
            </a:r>
          </a:p>
          <a:p>
            <a:endParaRPr lang="en-US" dirty="0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 Human Factors</a:t>
            </a: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5800"/>
            <a:ext cx="9144000" cy="941832"/>
          </a:xfrm>
          <a:noFill/>
        </p:spPr>
        <p:txBody>
          <a:bodyPr/>
          <a:lstStyle/>
          <a:p>
            <a:r>
              <a:rPr lang="en-US" dirty="0"/>
              <a:t>Lessons from Google SRE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32304"/>
            <a:ext cx="9144000" cy="2048256"/>
          </a:xfrm>
          <a:noFill/>
        </p:spPr>
        <p:txBody>
          <a:bodyPr/>
          <a:lstStyle/>
          <a:p>
            <a:r>
              <a:rPr lang="en-US" dirty="0"/>
              <a:t>• On‑call is central to reliability engineering.</a:t>
            </a:r>
          </a:p>
          <a:p>
            <a:r>
              <a:rPr lang="en-US" dirty="0"/>
              <a:t>• Balance rapid incident detection with sustainable human workload.</a:t>
            </a:r>
          </a:p>
          <a:p>
            <a:r>
              <a:rPr lang="en-US" dirty="0"/>
              <a:t>• Postmortems encourage learning culture.</a:t>
            </a:r>
          </a:p>
          <a:p>
            <a:r>
              <a:rPr lang="en-US" dirty="0"/>
              <a:t>• Avoid “toil” by automating repetitive tasks.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1" y="794893"/>
            <a:ext cx="6645965" cy="1325563"/>
          </a:xfrm>
          <a:noFill/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761" y="3143949"/>
            <a:ext cx="5781261" cy="20864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• Pager rotation duties = backbone of incident response in DevOps.</a:t>
            </a:r>
          </a:p>
          <a:p>
            <a:r>
              <a:rPr lang="en-US" dirty="0"/>
              <a:t>• Best practices: automation, fairness, escalation, empathy.</a:t>
            </a:r>
          </a:p>
          <a:p>
            <a:r>
              <a:rPr lang="en-US" dirty="0"/>
              <a:t>• Benefits: uptime, accountability, customer trust.</a:t>
            </a:r>
          </a:p>
          <a:p>
            <a:r>
              <a:rPr lang="en-US" dirty="0"/>
              <a:t>• Adopt pager rotations, design them with human sustainability in mind.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314706" y="0"/>
            <a:ext cx="7816995" cy="685800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976" y="2231178"/>
            <a:ext cx="4902843" cy="758910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D45CA-3B16-7D92-9FE8-16827297EA5A}"/>
              </a:ext>
            </a:extLst>
          </p:cNvPr>
          <p:cNvSpPr txBox="1"/>
          <p:nvPr/>
        </p:nvSpPr>
        <p:spPr>
          <a:xfrm>
            <a:off x="5129784" y="3264116"/>
            <a:ext cx="71414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REFRENCES: Google SRE. (2025). </a:t>
            </a:r>
            <a:r>
              <a:rPr lang="en-US" i="1" dirty="0"/>
              <a:t>What it means being on‑call</a:t>
            </a:r>
            <a:r>
              <a:rPr lang="en-US" dirty="0"/>
              <a:t>. Retrieved from </a:t>
            </a:r>
            <a:r>
              <a:rPr lang="en-US" dirty="0">
                <a:hlinkClick r:id="rId4"/>
              </a:rPr>
              <a:t>https://sre.google/workbook/on-call/</a:t>
            </a:r>
            <a:endParaRPr lang="en-US" dirty="0"/>
          </a:p>
          <a:p>
            <a:r>
              <a:rPr lang="en-US" dirty="0"/>
              <a:t>PagerDuty. (2025). </a:t>
            </a:r>
            <a:r>
              <a:rPr lang="en-US" i="1" dirty="0"/>
              <a:t>On‑call rotations and schedules</a:t>
            </a:r>
            <a:r>
              <a:rPr lang="en-US" dirty="0"/>
              <a:t>. Retrieved from </a:t>
            </a:r>
            <a:r>
              <a:rPr lang="en-US" dirty="0">
                <a:hlinkClick r:id="rId5"/>
              </a:rPr>
              <a:t>https://www.pagerduty.com/resources/incident-management-response/learn/call-rotations-schedules/</a:t>
            </a:r>
            <a:endParaRPr lang="en-US" dirty="0"/>
          </a:p>
          <a:p>
            <a:r>
              <a:rPr lang="en-US" dirty="0"/>
              <a:t>MOSS. (2025). </a:t>
            </a:r>
            <a:r>
              <a:rPr lang="en-US" i="1" dirty="0"/>
              <a:t>DevOps on‑call rotation setup</a:t>
            </a:r>
            <a:r>
              <a:rPr lang="en-US" dirty="0"/>
              <a:t>. Retrieved from </a:t>
            </a:r>
            <a:r>
              <a:rPr lang="en-US" dirty="0">
                <a:hlinkClick r:id="rId6"/>
              </a:rPr>
              <a:t>https://moss.sh/devops-monitoring/devops-on-call-rotation-setup/</a:t>
            </a:r>
            <a:endParaRPr lang="en-US" dirty="0"/>
          </a:p>
          <a:p>
            <a:r>
              <a:rPr lang="en-US" dirty="0"/>
              <a:t>Atlassian. (2025). </a:t>
            </a:r>
            <a:r>
              <a:rPr lang="en-US" i="1" dirty="0"/>
              <a:t>A manager’s guide to improving on‑call</a:t>
            </a:r>
            <a:r>
              <a:rPr lang="en-US" dirty="0"/>
              <a:t>. Retrieved from </a:t>
            </a:r>
            <a:r>
              <a:rPr lang="en-US" dirty="0">
                <a:hlinkClick r:id="rId7"/>
              </a:rPr>
              <a:t>https://www.atlassian.com/incident-management/on-call/improving-on-call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{A3E50DC1-9BCB-474C-B4B3-13ED023EB3C6}TF020710ce-b2a3-4743-8ec4-0abcd2574951ef9f6aa4_win32-415a623b9e9a</Template>
  <TotalTime>23</TotalTime>
  <Words>450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Univers Condensed Light</vt:lpstr>
      <vt:lpstr>Walbaum Display Light</vt:lpstr>
      <vt:lpstr>AngleLinesVTI</vt:lpstr>
      <vt:lpstr>Pager Rotation Duties in DevOps</vt:lpstr>
      <vt:lpstr>AGENDA</vt:lpstr>
      <vt:lpstr>Why Pager Rotation Matters</vt:lpstr>
      <vt:lpstr> Best Practices (Industry Standards)</vt:lpstr>
      <vt:lpstr> Human Factors</vt:lpstr>
      <vt:lpstr>Lessons from Google SRE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king</dc:creator>
  <cp:lastModifiedBy>colby king</cp:lastModifiedBy>
  <cp:revision>1</cp:revision>
  <dcterms:created xsi:type="dcterms:W3CDTF">2025-12-24T02:27:45Z</dcterms:created>
  <dcterms:modified xsi:type="dcterms:W3CDTF">2025-12-24T02:51:39Z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