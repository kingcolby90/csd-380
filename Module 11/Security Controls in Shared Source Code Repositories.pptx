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4"/>
  </p:sldMasterIdLst>
  <p:notesMasterIdLst>
    <p:notesMasterId r:id="rId12"/>
  </p:notesMasterIdLst>
  <p:handoutMasterIdLst>
    <p:handoutMasterId r:id="rId13"/>
  </p:handoutMasterIdLst>
  <p:sldIdLst>
    <p:sldId id="256" r:id="rId5"/>
    <p:sldId id="258" r:id="rId6"/>
    <p:sldId id="257" r:id="rId7"/>
    <p:sldId id="259" r:id="rId8"/>
    <p:sldId id="260" r:id="rId9"/>
    <p:sldId id="261" r:id="rId10"/>
    <p:sldId id="262"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notesViewPr>
    <p:cSldViewPr snapToGrid="0">
      <p:cViewPr varScale="1">
        <p:scale>
          <a:sx n="60" d="100"/>
          <a:sy n="60" d="100"/>
        </p:scale>
        <p:origin x="1670"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9FC193-7A05-4631-B681-B56EAB543D3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ABA77F75-8642-4931-8D7E-BE6C6DB9940D}">
      <dgm:prSet phldrT="[Text]"/>
      <dgm:spPr/>
      <dgm:t>
        <a:bodyPr/>
        <a:lstStyle/>
        <a:p>
          <a:r>
            <a:rPr lang="en-US" b="1" dirty="0">
              <a:solidFill>
                <a:schemeClr val="tx1"/>
              </a:solidFill>
              <a:latin typeface="Tahoma" panose="020B0604030504040204" pitchFamily="34" charset="0"/>
              <a:ea typeface="Tahoma" panose="020B0604030504040204" pitchFamily="34" charset="0"/>
              <a:cs typeface="Tahoma" panose="020B0604030504040204" pitchFamily="34" charset="0"/>
            </a:rPr>
            <a:t>plaintext secrets</a:t>
          </a:r>
        </a:p>
      </dgm:t>
    </dgm:pt>
    <dgm:pt modelId="{FCF9AE1B-B22B-4F91-BFD8-DDBBF762F128}" type="parTrans" cxnId="{D959B3EA-A66A-4B40-901C-93ECD4985A93}">
      <dgm:prSet/>
      <dgm:spPr/>
      <dgm:t>
        <a:bodyPr/>
        <a:lstStyle/>
        <a:p>
          <a:endParaRPr lang="en-US"/>
        </a:p>
      </dgm:t>
    </dgm:pt>
    <dgm:pt modelId="{1A095211-ADB0-42CA-9F24-F1BC942872F3}" type="sibTrans" cxnId="{D959B3EA-A66A-4B40-901C-93ECD4985A93}">
      <dgm:prSet/>
      <dgm:spPr/>
      <dgm:t>
        <a:bodyPr/>
        <a:lstStyle/>
        <a:p>
          <a:endParaRPr lang="en-US"/>
        </a:p>
      </dgm:t>
    </dgm:pt>
    <dgm:pt modelId="{611C3B18-07F8-4A66-9682-97E24AEF6014}">
      <dgm:prSet phldrT="[Text]"/>
      <dgm:spPr/>
      <dgm:t>
        <a:bodyPr/>
        <a:lstStyle/>
        <a:p>
          <a:pPr>
            <a:buFont typeface="Wingdings" panose="05000000000000000000" pitchFamily="2" charset="2"/>
            <a:buChar char=""/>
          </a:pPr>
          <a:r>
            <a:rPr lang="en-US" dirty="0">
              <a:latin typeface="Tahoma" panose="020B0604030504040204" pitchFamily="34" charset="0"/>
              <a:ea typeface="Tahoma" panose="020B0604030504040204" pitchFamily="34" charset="0"/>
              <a:cs typeface="Tahoma" panose="020B0604030504040204" pitchFamily="34" charset="0"/>
            </a:rPr>
            <a:t>Avoid storing plaintext secrets in repositories (common in 85% of orgs).</a:t>
          </a:r>
        </a:p>
      </dgm:t>
    </dgm:pt>
    <dgm:pt modelId="{5940BF2D-F08A-4150-9A86-173D9242DE8C}" type="parTrans" cxnId="{D5D61B4C-1312-427C-BDCC-013237D8A488}">
      <dgm:prSet/>
      <dgm:spPr/>
      <dgm:t>
        <a:bodyPr/>
        <a:lstStyle/>
        <a:p>
          <a:endParaRPr lang="en-US"/>
        </a:p>
      </dgm:t>
    </dgm:pt>
    <dgm:pt modelId="{477660C6-2B6D-4FB8-B9A3-D555E2082C2A}" type="sibTrans" cxnId="{D5D61B4C-1312-427C-BDCC-013237D8A488}">
      <dgm:prSet/>
      <dgm:spPr/>
      <dgm:t>
        <a:bodyPr/>
        <a:lstStyle/>
        <a:p>
          <a:endParaRPr lang="en-US"/>
        </a:p>
      </dgm:t>
    </dgm:pt>
    <dgm:pt modelId="{DA5DFAD8-E443-4F53-9341-A0903BBBD378}">
      <dgm:prSet phldrT="[Text]"/>
      <dgm:spPr/>
      <dgm:t>
        <a:bodyPr/>
        <a:lstStyle/>
        <a:p>
          <a:r>
            <a:rPr lang="en-US" b="1" dirty="0">
              <a:solidFill>
                <a:schemeClr val="tx1"/>
              </a:solidFill>
              <a:latin typeface="Tahoma" panose="020B0604030504040204" pitchFamily="34" charset="0"/>
              <a:ea typeface="Tahoma" panose="020B0604030504040204" pitchFamily="34" charset="0"/>
              <a:cs typeface="Tahoma" panose="020B0604030504040204" pitchFamily="34" charset="0"/>
            </a:rPr>
            <a:t>secret scanning tools</a:t>
          </a:r>
        </a:p>
      </dgm:t>
    </dgm:pt>
    <dgm:pt modelId="{F6012B3B-01B0-4E7C-A363-0177B95D3DD8}" type="parTrans" cxnId="{0073D4C3-F488-4F79-B637-186FAECF6BAD}">
      <dgm:prSet/>
      <dgm:spPr/>
      <dgm:t>
        <a:bodyPr/>
        <a:lstStyle/>
        <a:p>
          <a:endParaRPr lang="en-US"/>
        </a:p>
      </dgm:t>
    </dgm:pt>
    <dgm:pt modelId="{76D9F54E-47B3-4FE0-B465-AD673964072E}" type="sibTrans" cxnId="{0073D4C3-F488-4F79-B637-186FAECF6BAD}">
      <dgm:prSet/>
      <dgm:spPr/>
      <dgm:t>
        <a:bodyPr/>
        <a:lstStyle/>
        <a:p>
          <a:endParaRPr lang="en-US"/>
        </a:p>
      </dgm:t>
    </dgm:pt>
    <dgm:pt modelId="{6EE89B4E-BAED-4A90-B29D-70AF11256801}">
      <dgm:prSet phldrT="[Text]"/>
      <dgm:spPr/>
      <dgm:t>
        <a:bodyPr/>
        <a:lstStyle/>
        <a:p>
          <a:pPr>
            <a:buFont typeface="Wingdings" panose="05000000000000000000" pitchFamily="2" charset="2"/>
            <a:buChar char=""/>
          </a:pPr>
          <a:r>
            <a:rPr lang="en-US" dirty="0">
              <a:latin typeface="Tahoma" panose="020B0604030504040204" pitchFamily="34" charset="0"/>
              <a:ea typeface="Tahoma" panose="020B0604030504040204" pitchFamily="34" charset="0"/>
              <a:cs typeface="Tahoma" panose="020B0604030504040204" pitchFamily="34" charset="0"/>
            </a:rPr>
            <a:t>Use automated secret scanning tools (GitHub Advanced Security, GitLab secret detection).</a:t>
          </a:r>
        </a:p>
      </dgm:t>
    </dgm:pt>
    <dgm:pt modelId="{39BF20C7-31E5-452B-8EA2-17224A13C7FB}" type="parTrans" cxnId="{CA949A5F-9945-4C59-A233-D70AFFF70BDA}">
      <dgm:prSet/>
      <dgm:spPr/>
      <dgm:t>
        <a:bodyPr/>
        <a:lstStyle/>
        <a:p>
          <a:endParaRPr lang="en-US"/>
        </a:p>
      </dgm:t>
    </dgm:pt>
    <dgm:pt modelId="{E71503C3-CFB7-4144-AD9F-7A42A87A3A6B}" type="sibTrans" cxnId="{CA949A5F-9945-4C59-A233-D70AFFF70BDA}">
      <dgm:prSet/>
      <dgm:spPr/>
      <dgm:t>
        <a:bodyPr/>
        <a:lstStyle/>
        <a:p>
          <a:endParaRPr lang="en-US"/>
        </a:p>
      </dgm:t>
    </dgm:pt>
    <dgm:pt modelId="{6E092177-DC2E-47B1-A799-CC8F8ED3E9FB}">
      <dgm:prSet/>
      <dgm:spPr/>
      <dgm:t>
        <a:bodyPr/>
        <a:lstStyle/>
        <a:p>
          <a:r>
            <a:rPr lang="en-US" b="1" dirty="0">
              <a:latin typeface="Tahoma" panose="020B0604030504040204" pitchFamily="34" charset="0"/>
              <a:ea typeface="Tahoma" panose="020B0604030504040204" pitchFamily="34" charset="0"/>
              <a:cs typeface="Tahoma" panose="020B0604030504040204" pitchFamily="34" charset="0"/>
            </a:rPr>
            <a:t>vaults </a:t>
          </a:r>
        </a:p>
      </dgm:t>
    </dgm:pt>
    <dgm:pt modelId="{06A02DE3-E754-416C-8B7B-88E2D8E440CE}" type="parTrans" cxnId="{7D211C15-C2D5-4E66-B22A-15E1AF1B1B52}">
      <dgm:prSet/>
      <dgm:spPr/>
    </dgm:pt>
    <dgm:pt modelId="{0BDBE5AF-152F-4556-8AEC-3D50426B275E}" type="sibTrans" cxnId="{7D211C15-C2D5-4E66-B22A-15E1AF1B1B52}">
      <dgm:prSet/>
      <dgm:spPr/>
    </dgm:pt>
    <dgm:pt modelId="{E11F811E-C241-49CC-B90E-04564CFC16A7}">
      <dgm:prSet/>
      <dgm:spPr/>
      <dgm:t>
        <a:bodyPr/>
        <a:lstStyle/>
        <a:p>
          <a:r>
            <a:rPr lang="en-US" dirty="0"/>
            <a:t>Store credentials in vaults (e.g., </a:t>
          </a:r>
          <a:r>
            <a:rPr lang="en-US" dirty="0" err="1"/>
            <a:t>HashiCorp</a:t>
          </a:r>
          <a:r>
            <a:rPr lang="en-US" dirty="0"/>
            <a:t> Vault, Azure Key Vault).</a:t>
          </a:r>
        </a:p>
      </dgm:t>
    </dgm:pt>
    <dgm:pt modelId="{72A00FD0-3610-4EBA-A0EC-0931E9D4A59A}" type="parTrans" cxnId="{3C246868-66DB-4641-A39D-BD165B5B9018}">
      <dgm:prSet/>
      <dgm:spPr/>
    </dgm:pt>
    <dgm:pt modelId="{5E8C9DB9-F447-462E-863A-4DA48FA2FAAE}" type="sibTrans" cxnId="{3C246868-66DB-4641-A39D-BD165B5B9018}">
      <dgm:prSet/>
      <dgm:spPr/>
    </dgm:pt>
    <dgm:pt modelId="{DE3F77CF-6A8C-4783-A2CE-00E88C4199CB}" type="pres">
      <dgm:prSet presAssocID="{CF9FC193-7A05-4631-B681-B56EAB543D38}" presName="Name0" presStyleCnt="0">
        <dgm:presLayoutVars>
          <dgm:dir/>
          <dgm:animLvl val="lvl"/>
          <dgm:resizeHandles val="exact"/>
        </dgm:presLayoutVars>
      </dgm:prSet>
      <dgm:spPr/>
    </dgm:pt>
    <dgm:pt modelId="{3B158D6E-E3AA-49BB-988A-758B59ED8F3B}" type="pres">
      <dgm:prSet presAssocID="{ABA77F75-8642-4931-8D7E-BE6C6DB9940D}" presName="composite" presStyleCnt="0"/>
      <dgm:spPr/>
    </dgm:pt>
    <dgm:pt modelId="{055A5EAB-EAE0-4501-8649-31F112FF9AD5}" type="pres">
      <dgm:prSet presAssocID="{ABA77F75-8642-4931-8D7E-BE6C6DB9940D}" presName="parTx" presStyleLbl="alignNode1" presStyleIdx="0" presStyleCnt="3">
        <dgm:presLayoutVars>
          <dgm:chMax val="0"/>
          <dgm:chPref val="0"/>
          <dgm:bulletEnabled val="1"/>
        </dgm:presLayoutVars>
      </dgm:prSet>
      <dgm:spPr/>
    </dgm:pt>
    <dgm:pt modelId="{E4FD5043-5612-43C5-B6AE-CCD431549399}" type="pres">
      <dgm:prSet presAssocID="{ABA77F75-8642-4931-8D7E-BE6C6DB9940D}" presName="desTx" presStyleLbl="alignAccFollowNode1" presStyleIdx="0" presStyleCnt="3">
        <dgm:presLayoutVars>
          <dgm:bulletEnabled val="1"/>
        </dgm:presLayoutVars>
      </dgm:prSet>
      <dgm:spPr/>
    </dgm:pt>
    <dgm:pt modelId="{3E20F600-AFBC-427F-8295-F096F694BC17}" type="pres">
      <dgm:prSet presAssocID="{1A095211-ADB0-42CA-9F24-F1BC942872F3}" presName="space" presStyleCnt="0"/>
      <dgm:spPr/>
    </dgm:pt>
    <dgm:pt modelId="{173DA3A6-F783-42D4-9ED8-FD330979BCEA}" type="pres">
      <dgm:prSet presAssocID="{DA5DFAD8-E443-4F53-9341-A0903BBBD378}" presName="composite" presStyleCnt="0"/>
      <dgm:spPr/>
    </dgm:pt>
    <dgm:pt modelId="{23D06E36-F688-4B37-8BB8-73015E665B0E}" type="pres">
      <dgm:prSet presAssocID="{DA5DFAD8-E443-4F53-9341-A0903BBBD378}" presName="parTx" presStyleLbl="alignNode1" presStyleIdx="1" presStyleCnt="3">
        <dgm:presLayoutVars>
          <dgm:chMax val="0"/>
          <dgm:chPref val="0"/>
          <dgm:bulletEnabled val="1"/>
        </dgm:presLayoutVars>
      </dgm:prSet>
      <dgm:spPr/>
    </dgm:pt>
    <dgm:pt modelId="{EA81ED6A-A7EA-4137-A3DC-D16E79F1B938}" type="pres">
      <dgm:prSet presAssocID="{DA5DFAD8-E443-4F53-9341-A0903BBBD378}" presName="desTx" presStyleLbl="alignAccFollowNode1" presStyleIdx="1" presStyleCnt="3">
        <dgm:presLayoutVars>
          <dgm:bulletEnabled val="1"/>
        </dgm:presLayoutVars>
      </dgm:prSet>
      <dgm:spPr/>
    </dgm:pt>
    <dgm:pt modelId="{A01C9189-317F-4DAA-AB53-05E1F8F178C8}" type="pres">
      <dgm:prSet presAssocID="{76D9F54E-47B3-4FE0-B465-AD673964072E}" presName="space" presStyleCnt="0"/>
      <dgm:spPr/>
    </dgm:pt>
    <dgm:pt modelId="{D8F8FF43-9560-4F94-8417-EF66C2DDB04A}" type="pres">
      <dgm:prSet presAssocID="{6E092177-DC2E-47B1-A799-CC8F8ED3E9FB}" presName="composite" presStyleCnt="0"/>
      <dgm:spPr/>
    </dgm:pt>
    <dgm:pt modelId="{736D4C58-036D-46CC-9418-891CDBC07689}" type="pres">
      <dgm:prSet presAssocID="{6E092177-DC2E-47B1-A799-CC8F8ED3E9FB}" presName="parTx" presStyleLbl="alignNode1" presStyleIdx="2" presStyleCnt="3">
        <dgm:presLayoutVars>
          <dgm:chMax val="0"/>
          <dgm:chPref val="0"/>
          <dgm:bulletEnabled val="1"/>
        </dgm:presLayoutVars>
      </dgm:prSet>
      <dgm:spPr/>
    </dgm:pt>
    <dgm:pt modelId="{0280FCB4-2C5D-4B7A-841A-5F7451773211}" type="pres">
      <dgm:prSet presAssocID="{6E092177-DC2E-47B1-A799-CC8F8ED3E9FB}" presName="desTx" presStyleLbl="alignAccFollowNode1" presStyleIdx="2" presStyleCnt="3">
        <dgm:presLayoutVars>
          <dgm:bulletEnabled val="1"/>
        </dgm:presLayoutVars>
      </dgm:prSet>
      <dgm:spPr/>
    </dgm:pt>
  </dgm:ptLst>
  <dgm:cxnLst>
    <dgm:cxn modelId="{D5AD1814-C69C-4FC5-A71C-B00EC58A549D}" type="presOf" srcId="{ABA77F75-8642-4931-8D7E-BE6C6DB9940D}" destId="{055A5EAB-EAE0-4501-8649-31F112FF9AD5}" srcOrd="0" destOrd="0" presId="urn:microsoft.com/office/officeart/2005/8/layout/hList1"/>
    <dgm:cxn modelId="{7D211C15-C2D5-4E66-B22A-15E1AF1B1B52}" srcId="{CF9FC193-7A05-4631-B681-B56EAB543D38}" destId="{6E092177-DC2E-47B1-A799-CC8F8ED3E9FB}" srcOrd="2" destOrd="0" parTransId="{06A02DE3-E754-416C-8B7B-88E2D8E440CE}" sibTransId="{0BDBE5AF-152F-4556-8AEC-3D50426B275E}"/>
    <dgm:cxn modelId="{29BC471C-0FB3-4823-B884-1032D1BEDB88}" type="presOf" srcId="{6EE89B4E-BAED-4A90-B29D-70AF11256801}" destId="{EA81ED6A-A7EA-4137-A3DC-D16E79F1B938}" srcOrd="0" destOrd="0" presId="urn:microsoft.com/office/officeart/2005/8/layout/hList1"/>
    <dgm:cxn modelId="{62E49F20-56B3-4A25-8421-F9BBEC060411}" type="presOf" srcId="{DA5DFAD8-E443-4F53-9341-A0903BBBD378}" destId="{23D06E36-F688-4B37-8BB8-73015E665B0E}" srcOrd="0" destOrd="0" presId="urn:microsoft.com/office/officeart/2005/8/layout/hList1"/>
    <dgm:cxn modelId="{CA949A5F-9945-4C59-A233-D70AFFF70BDA}" srcId="{DA5DFAD8-E443-4F53-9341-A0903BBBD378}" destId="{6EE89B4E-BAED-4A90-B29D-70AF11256801}" srcOrd="0" destOrd="0" parTransId="{39BF20C7-31E5-452B-8EA2-17224A13C7FB}" sibTransId="{E71503C3-CFB7-4144-AD9F-7A42A87A3A6B}"/>
    <dgm:cxn modelId="{3C246868-66DB-4641-A39D-BD165B5B9018}" srcId="{6E092177-DC2E-47B1-A799-CC8F8ED3E9FB}" destId="{E11F811E-C241-49CC-B90E-04564CFC16A7}" srcOrd="0" destOrd="0" parTransId="{72A00FD0-3610-4EBA-A0EC-0931E9D4A59A}" sibTransId="{5E8C9DB9-F447-462E-863A-4DA48FA2FAAE}"/>
    <dgm:cxn modelId="{D5D61B4C-1312-427C-BDCC-013237D8A488}" srcId="{ABA77F75-8642-4931-8D7E-BE6C6DB9940D}" destId="{611C3B18-07F8-4A66-9682-97E24AEF6014}" srcOrd="0" destOrd="0" parTransId="{5940BF2D-F08A-4150-9A86-173D9242DE8C}" sibTransId="{477660C6-2B6D-4FB8-B9A3-D555E2082C2A}"/>
    <dgm:cxn modelId="{AAECF784-8F1D-4908-B93D-837F49AB8751}" type="presOf" srcId="{CF9FC193-7A05-4631-B681-B56EAB543D38}" destId="{DE3F77CF-6A8C-4783-A2CE-00E88C4199CB}" srcOrd="0" destOrd="0" presId="urn:microsoft.com/office/officeart/2005/8/layout/hList1"/>
    <dgm:cxn modelId="{26806091-E1D0-41BE-91A0-270C95465839}" type="presOf" srcId="{611C3B18-07F8-4A66-9682-97E24AEF6014}" destId="{E4FD5043-5612-43C5-B6AE-CCD431549399}" srcOrd="0" destOrd="0" presId="urn:microsoft.com/office/officeart/2005/8/layout/hList1"/>
    <dgm:cxn modelId="{87572B9C-4D77-4BD3-9267-76D7B78045D8}" type="presOf" srcId="{E11F811E-C241-49CC-B90E-04564CFC16A7}" destId="{0280FCB4-2C5D-4B7A-841A-5F7451773211}" srcOrd="0" destOrd="0" presId="urn:microsoft.com/office/officeart/2005/8/layout/hList1"/>
    <dgm:cxn modelId="{0073D4C3-F488-4F79-B637-186FAECF6BAD}" srcId="{CF9FC193-7A05-4631-B681-B56EAB543D38}" destId="{DA5DFAD8-E443-4F53-9341-A0903BBBD378}" srcOrd="1" destOrd="0" parTransId="{F6012B3B-01B0-4E7C-A363-0177B95D3DD8}" sibTransId="{76D9F54E-47B3-4FE0-B465-AD673964072E}"/>
    <dgm:cxn modelId="{5663F4E9-9867-4CD2-ADB6-6F523AB14B23}" type="presOf" srcId="{6E092177-DC2E-47B1-A799-CC8F8ED3E9FB}" destId="{736D4C58-036D-46CC-9418-891CDBC07689}" srcOrd="0" destOrd="0" presId="urn:microsoft.com/office/officeart/2005/8/layout/hList1"/>
    <dgm:cxn modelId="{D959B3EA-A66A-4B40-901C-93ECD4985A93}" srcId="{CF9FC193-7A05-4631-B681-B56EAB543D38}" destId="{ABA77F75-8642-4931-8D7E-BE6C6DB9940D}" srcOrd="0" destOrd="0" parTransId="{FCF9AE1B-B22B-4F91-BFD8-DDBBF762F128}" sibTransId="{1A095211-ADB0-42CA-9F24-F1BC942872F3}"/>
    <dgm:cxn modelId="{F3B2F650-680E-4E73-824A-DB2A17C07976}" type="presParOf" srcId="{DE3F77CF-6A8C-4783-A2CE-00E88C4199CB}" destId="{3B158D6E-E3AA-49BB-988A-758B59ED8F3B}" srcOrd="0" destOrd="0" presId="urn:microsoft.com/office/officeart/2005/8/layout/hList1"/>
    <dgm:cxn modelId="{47C277D0-98D3-4CD8-8BFC-BE07E219EB59}" type="presParOf" srcId="{3B158D6E-E3AA-49BB-988A-758B59ED8F3B}" destId="{055A5EAB-EAE0-4501-8649-31F112FF9AD5}" srcOrd="0" destOrd="0" presId="urn:microsoft.com/office/officeart/2005/8/layout/hList1"/>
    <dgm:cxn modelId="{9E976D42-04D6-4DFC-A41E-9F1CC82959F3}" type="presParOf" srcId="{3B158D6E-E3AA-49BB-988A-758B59ED8F3B}" destId="{E4FD5043-5612-43C5-B6AE-CCD431549399}" srcOrd="1" destOrd="0" presId="urn:microsoft.com/office/officeart/2005/8/layout/hList1"/>
    <dgm:cxn modelId="{988F461A-E3B0-4A03-9209-0252EA574D8A}" type="presParOf" srcId="{DE3F77CF-6A8C-4783-A2CE-00E88C4199CB}" destId="{3E20F600-AFBC-427F-8295-F096F694BC17}" srcOrd="1" destOrd="0" presId="urn:microsoft.com/office/officeart/2005/8/layout/hList1"/>
    <dgm:cxn modelId="{459E1FC1-171F-490A-AE58-8B1F0B65E0B9}" type="presParOf" srcId="{DE3F77CF-6A8C-4783-A2CE-00E88C4199CB}" destId="{173DA3A6-F783-42D4-9ED8-FD330979BCEA}" srcOrd="2" destOrd="0" presId="urn:microsoft.com/office/officeart/2005/8/layout/hList1"/>
    <dgm:cxn modelId="{7C8C70CD-3F85-4F81-A2D5-E8F2987C848F}" type="presParOf" srcId="{173DA3A6-F783-42D4-9ED8-FD330979BCEA}" destId="{23D06E36-F688-4B37-8BB8-73015E665B0E}" srcOrd="0" destOrd="0" presId="urn:microsoft.com/office/officeart/2005/8/layout/hList1"/>
    <dgm:cxn modelId="{1923F41C-B24C-42B9-B913-A48D81100786}" type="presParOf" srcId="{173DA3A6-F783-42D4-9ED8-FD330979BCEA}" destId="{EA81ED6A-A7EA-4137-A3DC-D16E79F1B938}" srcOrd="1" destOrd="0" presId="urn:microsoft.com/office/officeart/2005/8/layout/hList1"/>
    <dgm:cxn modelId="{878D9A89-3BFC-47DF-9255-89C16AEE09EF}" type="presParOf" srcId="{DE3F77CF-6A8C-4783-A2CE-00E88C4199CB}" destId="{A01C9189-317F-4DAA-AB53-05E1F8F178C8}" srcOrd="3" destOrd="0" presId="urn:microsoft.com/office/officeart/2005/8/layout/hList1"/>
    <dgm:cxn modelId="{4A32E478-F40C-405B-8163-5FAEFEAD330A}" type="presParOf" srcId="{DE3F77CF-6A8C-4783-A2CE-00E88C4199CB}" destId="{D8F8FF43-9560-4F94-8417-EF66C2DDB04A}" srcOrd="4" destOrd="0" presId="urn:microsoft.com/office/officeart/2005/8/layout/hList1"/>
    <dgm:cxn modelId="{3E46BF91-74C1-447A-9EC0-43C6CC8FD5BD}" type="presParOf" srcId="{D8F8FF43-9560-4F94-8417-EF66C2DDB04A}" destId="{736D4C58-036D-46CC-9418-891CDBC07689}" srcOrd="0" destOrd="0" presId="urn:microsoft.com/office/officeart/2005/8/layout/hList1"/>
    <dgm:cxn modelId="{3DD9E80D-BA58-4BCF-BB7A-99403E6AD93F}" type="presParOf" srcId="{D8F8FF43-9560-4F94-8417-EF66C2DDB04A}" destId="{0280FCB4-2C5D-4B7A-841A-5F745177321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5A5EAB-EAE0-4501-8649-31F112FF9AD5}">
      <dsp:nvSpPr>
        <dsp:cNvPr id="0" name=""/>
        <dsp:cNvSpPr/>
      </dsp:nvSpPr>
      <dsp:spPr>
        <a:xfrm>
          <a:off x="3535" y="49661"/>
          <a:ext cx="3447370" cy="1073197"/>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a:lnSpc>
              <a:spcPct val="90000"/>
            </a:lnSpc>
            <a:spcBef>
              <a:spcPct val="0"/>
            </a:spcBef>
            <a:spcAft>
              <a:spcPct val="35000"/>
            </a:spcAft>
            <a:buNone/>
          </a:pPr>
          <a:r>
            <a:rPr lang="en-US" sz="3000" b="1" kern="1200" dirty="0">
              <a:solidFill>
                <a:schemeClr val="tx1"/>
              </a:solidFill>
              <a:latin typeface="Tahoma" panose="020B0604030504040204" pitchFamily="34" charset="0"/>
              <a:ea typeface="Tahoma" panose="020B0604030504040204" pitchFamily="34" charset="0"/>
              <a:cs typeface="Tahoma" panose="020B0604030504040204" pitchFamily="34" charset="0"/>
            </a:rPr>
            <a:t>plaintext secrets</a:t>
          </a:r>
        </a:p>
      </dsp:txBody>
      <dsp:txXfrm>
        <a:off x="3535" y="49661"/>
        <a:ext cx="3447370" cy="1073197"/>
      </dsp:txXfrm>
    </dsp:sp>
    <dsp:sp modelId="{E4FD5043-5612-43C5-B6AE-CCD431549399}">
      <dsp:nvSpPr>
        <dsp:cNvPr id="0" name=""/>
        <dsp:cNvSpPr/>
      </dsp:nvSpPr>
      <dsp:spPr>
        <a:xfrm>
          <a:off x="3535" y="1122859"/>
          <a:ext cx="3447370" cy="3319734"/>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a:lnSpc>
              <a:spcPct val="90000"/>
            </a:lnSpc>
            <a:spcBef>
              <a:spcPct val="0"/>
            </a:spcBef>
            <a:spcAft>
              <a:spcPct val="15000"/>
            </a:spcAft>
            <a:buFont typeface="Wingdings" panose="05000000000000000000" pitchFamily="2" charset="2"/>
            <a:buChar char=""/>
          </a:pPr>
          <a:r>
            <a:rPr lang="en-US" sz="3000" kern="1200" dirty="0">
              <a:latin typeface="Tahoma" panose="020B0604030504040204" pitchFamily="34" charset="0"/>
              <a:ea typeface="Tahoma" panose="020B0604030504040204" pitchFamily="34" charset="0"/>
              <a:cs typeface="Tahoma" panose="020B0604030504040204" pitchFamily="34" charset="0"/>
            </a:rPr>
            <a:t>Avoid storing plaintext secrets in repositories (common in 85% of orgs).</a:t>
          </a:r>
        </a:p>
      </dsp:txBody>
      <dsp:txXfrm>
        <a:off x="3535" y="1122859"/>
        <a:ext cx="3447370" cy="3319734"/>
      </dsp:txXfrm>
    </dsp:sp>
    <dsp:sp modelId="{23D06E36-F688-4B37-8BB8-73015E665B0E}">
      <dsp:nvSpPr>
        <dsp:cNvPr id="0" name=""/>
        <dsp:cNvSpPr/>
      </dsp:nvSpPr>
      <dsp:spPr>
        <a:xfrm>
          <a:off x="3933537" y="49661"/>
          <a:ext cx="3447370" cy="1073197"/>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a:lnSpc>
              <a:spcPct val="90000"/>
            </a:lnSpc>
            <a:spcBef>
              <a:spcPct val="0"/>
            </a:spcBef>
            <a:spcAft>
              <a:spcPct val="35000"/>
            </a:spcAft>
            <a:buNone/>
          </a:pPr>
          <a:r>
            <a:rPr lang="en-US" sz="3000" b="1" kern="1200" dirty="0">
              <a:solidFill>
                <a:schemeClr val="tx1"/>
              </a:solidFill>
              <a:latin typeface="Tahoma" panose="020B0604030504040204" pitchFamily="34" charset="0"/>
              <a:ea typeface="Tahoma" panose="020B0604030504040204" pitchFamily="34" charset="0"/>
              <a:cs typeface="Tahoma" panose="020B0604030504040204" pitchFamily="34" charset="0"/>
            </a:rPr>
            <a:t>secret scanning tools</a:t>
          </a:r>
        </a:p>
      </dsp:txBody>
      <dsp:txXfrm>
        <a:off x="3933537" y="49661"/>
        <a:ext cx="3447370" cy="1073197"/>
      </dsp:txXfrm>
    </dsp:sp>
    <dsp:sp modelId="{EA81ED6A-A7EA-4137-A3DC-D16E79F1B938}">
      <dsp:nvSpPr>
        <dsp:cNvPr id="0" name=""/>
        <dsp:cNvSpPr/>
      </dsp:nvSpPr>
      <dsp:spPr>
        <a:xfrm>
          <a:off x="3933537" y="1122859"/>
          <a:ext cx="3447370" cy="3319734"/>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a:lnSpc>
              <a:spcPct val="90000"/>
            </a:lnSpc>
            <a:spcBef>
              <a:spcPct val="0"/>
            </a:spcBef>
            <a:spcAft>
              <a:spcPct val="15000"/>
            </a:spcAft>
            <a:buFont typeface="Wingdings" panose="05000000000000000000" pitchFamily="2" charset="2"/>
            <a:buChar char=""/>
          </a:pPr>
          <a:r>
            <a:rPr lang="en-US" sz="3000" kern="1200" dirty="0">
              <a:latin typeface="Tahoma" panose="020B0604030504040204" pitchFamily="34" charset="0"/>
              <a:ea typeface="Tahoma" panose="020B0604030504040204" pitchFamily="34" charset="0"/>
              <a:cs typeface="Tahoma" panose="020B0604030504040204" pitchFamily="34" charset="0"/>
            </a:rPr>
            <a:t>Use automated secret scanning tools (GitHub Advanced Security, GitLab secret detection).</a:t>
          </a:r>
        </a:p>
      </dsp:txBody>
      <dsp:txXfrm>
        <a:off x="3933537" y="1122859"/>
        <a:ext cx="3447370" cy="3319734"/>
      </dsp:txXfrm>
    </dsp:sp>
    <dsp:sp modelId="{736D4C58-036D-46CC-9418-891CDBC07689}">
      <dsp:nvSpPr>
        <dsp:cNvPr id="0" name=""/>
        <dsp:cNvSpPr/>
      </dsp:nvSpPr>
      <dsp:spPr>
        <a:xfrm>
          <a:off x="7863539" y="49661"/>
          <a:ext cx="3447370" cy="1073197"/>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a:lnSpc>
              <a:spcPct val="90000"/>
            </a:lnSpc>
            <a:spcBef>
              <a:spcPct val="0"/>
            </a:spcBef>
            <a:spcAft>
              <a:spcPct val="35000"/>
            </a:spcAft>
            <a:buNone/>
          </a:pPr>
          <a:r>
            <a:rPr lang="en-US" sz="3000" b="1" kern="1200" dirty="0">
              <a:latin typeface="Tahoma" panose="020B0604030504040204" pitchFamily="34" charset="0"/>
              <a:ea typeface="Tahoma" panose="020B0604030504040204" pitchFamily="34" charset="0"/>
              <a:cs typeface="Tahoma" panose="020B0604030504040204" pitchFamily="34" charset="0"/>
            </a:rPr>
            <a:t>vaults </a:t>
          </a:r>
        </a:p>
      </dsp:txBody>
      <dsp:txXfrm>
        <a:off x="7863539" y="49661"/>
        <a:ext cx="3447370" cy="1073197"/>
      </dsp:txXfrm>
    </dsp:sp>
    <dsp:sp modelId="{0280FCB4-2C5D-4B7A-841A-5F7451773211}">
      <dsp:nvSpPr>
        <dsp:cNvPr id="0" name=""/>
        <dsp:cNvSpPr/>
      </dsp:nvSpPr>
      <dsp:spPr>
        <a:xfrm>
          <a:off x="7863539" y="1122859"/>
          <a:ext cx="3447370" cy="3319734"/>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a:lnSpc>
              <a:spcPct val="90000"/>
            </a:lnSpc>
            <a:spcBef>
              <a:spcPct val="0"/>
            </a:spcBef>
            <a:spcAft>
              <a:spcPct val="15000"/>
            </a:spcAft>
            <a:buChar char="•"/>
          </a:pPr>
          <a:r>
            <a:rPr lang="en-US" sz="3000" kern="1200" dirty="0"/>
            <a:t>Store credentials in vaults (e.g., </a:t>
          </a:r>
          <a:r>
            <a:rPr lang="en-US" sz="3000" kern="1200" dirty="0" err="1"/>
            <a:t>HashiCorp</a:t>
          </a:r>
          <a:r>
            <a:rPr lang="en-US" sz="3000" kern="1200" dirty="0"/>
            <a:t> Vault, Azure Key Vault).</a:t>
          </a:r>
        </a:p>
      </dsp:txBody>
      <dsp:txXfrm>
        <a:off x="7863539" y="1122859"/>
        <a:ext cx="3447370" cy="331973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9B3372-74CF-4E21-A4D4-286B22AA5A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63762BE-D43C-49F5-99A5-BF49C69592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85766F-5EC0-4797-B4D1-777FCB005B11}" type="datetimeFigureOut">
              <a:rPr lang="en-US" smtClean="0"/>
              <a:t>12/23/2025</a:t>
            </a:fld>
            <a:endParaRPr lang="en-US" dirty="0"/>
          </a:p>
        </p:txBody>
      </p:sp>
      <p:sp>
        <p:nvSpPr>
          <p:cNvPr id="4" name="Footer Placeholder 3">
            <a:extLst>
              <a:ext uri="{FF2B5EF4-FFF2-40B4-BE49-F238E27FC236}">
                <a16:creationId xmlns:a16="http://schemas.microsoft.com/office/drawing/2014/main" id="{1989E452-9BCA-4AF5-9A9C-233BF410EA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6BF9F63-CE4F-44E2-A07D-7E654DE9F5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0AC76B-F5B1-4D6E-BACD-2A80744AC929}" type="slidenum">
              <a:rPr lang="en-US" smtClean="0"/>
              <a:t>‹#›</a:t>
            </a:fld>
            <a:endParaRPr lang="en-US" dirty="0"/>
          </a:p>
        </p:txBody>
      </p:sp>
    </p:spTree>
    <p:extLst>
      <p:ext uri="{BB962C8B-B14F-4D97-AF65-F5344CB8AC3E}">
        <p14:creationId xmlns:p14="http://schemas.microsoft.com/office/powerpoint/2010/main" val="3205145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4B5EC-152C-4627-80C0-63B10D5574EF}" type="datetimeFigureOut">
              <a:rPr lang="en-US" smtClean="0"/>
              <a:t>12/23/2025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EE60E-651F-40CC-AD73-C00F10CE42B6}" type="slidenum">
              <a:rPr lang="en-US" smtClean="0"/>
              <a:t>‹#›</a:t>
            </a:fld>
            <a:endParaRPr lang="en-US" dirty="0"/>
          </a:p>
        </p:txBody>
      </p:sp>
    </p:spTree>
    <p:extLst>
      <p:ext uri="{BB962C8B-B14F-4D97-AF65-F5344CB8AC3E}">
        <p14:creationId xmlns:p14="http://schemas.microsoft.com/office/powerpoint/2010/main" val="202541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12/23/2025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14254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08808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7427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1615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12/23/2025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82054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12/23/2025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56622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12/23/2025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4141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69401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94255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53284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42454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527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0553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12/23/2025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69605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12/23/2025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20160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36053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7062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12/23/2025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60987329"/>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learn.microsoft.com/" TargetMode="External"/><Relationship Id="rId3" Type="http://schemas.openxmlformats.org/officeDocument/2006/relationships/hyperlink" Target="https://orca.security/" TargetMode="External"/><Relationship Id="rId7" Type="http://schemas.openxmlformats.org/officeDocument/2006/relationships/hyperlink" Target="https://techzenflow.com/" TargetMode="External"/><Relationship Id="rId2" Type="http://schemas.openxmlformats.org/officeDocument/2006/relationships/hyperlink" Target="https://checkmarx.com/" TargetMode="External"/><Relationship Id="rId1" Type="http://schemas.openxmlformats.org/officeDocument/2006/relationships/slideLayout" Target="../slideLayouts/slideLayout2.xml"/><Relationship Id="rId6" Type="http://schemas.openxmlformats.org/officeDocument/2006/relationships/hyperlink" Target="https://get.assembla.com/" TargetMode="External"/><Relationship Id="rId5" Type="http://schemas.openxmlformats.org/officeDocument/2006/relationships/hyperlink" Target="https://docs.github.com/" TargetMode="External"/><Relationship Id="rId4" Type="http://schemas.openxmlformats.org/officeDocument/2006/relationships/hyperlink" Target="https://harness.io/" TargetMode="External"/><Relationship Id="rId9" Type="http://schemas.openxmlformats.org/officeDocument/2006/relationships/hyperlink" Target="https://ecanary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8D3E5-C7A3-47DF-A374-46BF83A69904}"/>
              </a:ext>
            </a:extLst>
          </p:cNvPr>
          <p:cNvSpPr>
            <a:spLocks noGrp="1"/>
          </p:cNvSpPr>
          <p:nvPr>
            <p:ph type="ctrTitle"/>
          </p:nvPr>
        </p:nvSpPr>
        <p:spPr/>
        <p:txBody>
          <a:bodyPr>
            <a:normAutofit/>
          </a:bodyPr>
          <a:lstStyle/>
          <a:p>
            <a:pPr algn="ctr"/>
            <a:r>
              <a:rPr lang="en-US" sz="5400" dirty="0">
                <a:latin typeface="Rockwell" panose="02060603020205020403" pitchFamily="18" charset="0"/>
              </a:rPr>
              <a:t>Security Controls in Shared Source Code Repositories</a:t>
            </a:r>
          </a:p>
        </p:txBody>
      </p:sp>
      <p:sp>
        <p:nvSpPr>
          <p:cNvPr id="3" name="Subtitle 2">
            <a:extLst>
              <a:ext uri="{FF2B5EF4-FFF2-40B4-BE49-F238E27FC236}">
                <a16:creationId xmlns:a16="http://schemas.microsoft.com/office/drawing/2014/main" id="{2E78725B-6E40-4D82-B375-7831D81C29EE}"/>
              </a:ext>
            </a:extLst>
          </p:cNvPr>
          <p:cNvSpPr>
            <a:spLocks noGrp="1"/>
          </p:cNvSpPr>
          <p:nvPr>
            <p:ph type="subTitle" idx="1"/>
          </p:nvPr>
        </p:nvSpPr>
        <p:spPr/>
        <p:txBody>
          <a:bodyPr>
            <a:normAutofit fontScale="92500"/>
          </a:bodyPr>
          <a:lstStyle/>
          <a:p>
            <a:pPr algn="ctr"/>
            <a:r>
              <a:rPr lang="en-US" sz="2400" dirty="0">
                <a:latin typeface="Tahoma" panose="020B0604030504040204" pitchFamily="34" charset="0"/>
                <a:ea typeface="Tahoma" panose="020B0604030504040204" pitchFamily="34" charset="0"/>
                <a:cs typeface="Tahoma" panose="020B0604030504040204" pitchFamily="34" charset="0"/>
              </a:rPr>
              <a:t>Protecting collaborative development environments</a:t>
            </a:r>
          </a:p>
          <a:p>
            <a:pPr algn="ctr"/>
            <a:r>
              <a:rPr lang="en-US" sz="2400" dirty="0">
                <a:latin typeface="Tahoma" panose="020B0604030504040204" pitchFamily="34" charset="0"/>
                <a:ea typeface="Tahoma" panose="020B0604030504040204" pitchFamily="34" charset="0"/>
                <a:cs typeface="Tahoma" panose="020B0604030504040204" pitchFamily="34" charset="0"/>
              </a:rPr>
              <a:t>Colby king </a:t>
            </a:r>
          </a:p>
          <a:p>
            <a:pPr algn="ctr"/>
            <a:r>
              <a:rPr lang="en-US" sz="2400" dirty="0">
                <a:latin typeface="Tahoma" panose="020B0604030504040204" pitchFamily="34" charset="0"/>
                <a:ea typeface="Tahoma" panose="020B0604030504040204" pitchFamily="34" charset="0"/>
                <a:cs typeface="Tahoma" panose="020B0604030504040204" pitchFamily="34" charset="0"/>
              </a:rPr>
              <a:t>Module 11.2 assignment</a:t>
            </a:r>
          </a:p>
        </p:txBody>
      </p:sp>
    </p:spTree>
    <p:extLst>
      <p:ext uri="{BB962C8B-B14F-4D97-AF65-F5344CB8AC3E}">
        <p14:creationId xmlns:p14="http://schemas.microsoft.com/office/powerpoint/2010/main" val="181935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3F5361-68C0-4BF5-80C8-F1E7BF92B2DB}"/>
              </a:ext>
            </a:extLst>
          </p:cNvPr>
          <p:cNvSpPr>
            <a:spLocks noGrp="1"/>
          </p:cNvSpPr>
          <p:nvPr>
            <p:ph idx="1"/>
          </p:nvPr>
        </p:nvSpPr>
        <p:spPr/>
        <p:txBody>
          <a:bodyPr/>
          <a:lstStyle/>
          <a:p>
            <a:r>
              <a:rPr lang="en-US" dirty="0">
                <a:latin typeface="Tahoma" panose="020B0604030504040204" pitchFamily="34" charset="0"/>
                <a:ea typeface="Tahoma" panose="020B0604030504040204" pitchFamily="34" charset="0"/>
                <a:cs typeface="Tahoma" panose="020B0604030504040204" pitchFamily="34" charset="0"/>
              </a:rPr>
              <a:t>Source code repositories are a prime target for attackers because they often contain sensitive assets like API keys, credentials, and proprietary intellectual property. Breaches in these environments can lead to severe security and business risks, especially as supply chain attacks have surged by more than 600% in recent years. Implementing strong security controls helps safeguard integrity, maintain confidentiality, and build trust across DevOps pipelines.</a:t>
            </a:r>
          </a:p>
        </p:txBody>
      </p:sp>
      <p:sp>
        <p:nvSpPr>
          <p:cNvPr id="4" name="Title 1">
            <a:extLst>
              <a:ext uri="{FF2B5EF4-FFF2-40B4-BE49-F238E27FC236}">
                <a16:creationId xmlns:a16="http://schemas.microsoft.com/office/drawing/2014/main" id="{71A0232E-5921-922A-7EB3-F2CD3E679DE7}"/>
              </a:ext>
            </a:extLst>
          </p:cNvPr>
          <p:cNvSpPr>
            <a:spLocks noGrp="1"/>
          </p:cNvSpPr>
          <p:nvPr>
            <p:ph type="title"/>
          </p:nvPr>
        </p:nvSpPr>
        <p:spPr>
          <a:xfrm>
            <a:off x="1141413" y="618518"/>
            <a:ext cx="9905998" cy="1478570"/>
          </a:xfrm>
        </p:spPr>
        <p:txBody>
          <a:bodyPr>
            <a:normAutofit/>
          </a:bodyPr>
          <a:lstStyle/>
          <a:p>
            <a:r>
              <a:rPr lang="en-US" sz="4400" dirty="0">
                <a:latin typeface="Rockwell" panose="02060603020205020403" pitchFamily="18" charset="0"/>
              </a:rPr>
              <a:t>Why Security Controls Matter</a:t>
            </a:r>
          </a:p>
        </p:txBody>
      </p:sp>
    </p:spTree>
    <p:extLst>
      <p:ext uri="{BB962C8B-B14F-4D97-AF65-F5344CB8AC3E}">
        <p14:creationId xmlns:p14="http://schemas.microsoft.com/office/powerpoint/2010/main" val="2172179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p:txBody>
          <a:bodyPr>
            <a:normAutofit/>
          </a:bodyPr>
          <a:lstStyle/>
          <a:p>
            <a:r>
              <a:rPr lang="en-US" sz="4400" dirty="0">
                <a:latin typeface="Rockwell" panose="02060603020205020403" pitchFamily="18" charset="0"/>
              </a:rPr>
              <a:t>Access Control &amp; Permissions</a:t>
            </a:r>
          </a:p>
        </p:txBody>
      </p:sp>
      <p:sp>
        <p:nvSpPr>
          <p:cNvPr id="3" name="Content Placeholder 2">
            <a:extLst>
              <a:ext uri="{FF2B5EF4-FFF2-40B4-BE49-F238E27FC236}">
                <a16:creationId xmlns:a16="http://schemas.microsoft.com/office/drawing/2014/main" id="{8AE8C6EA-08C2-BE43-09BB-9FF7D642F306}"/>
              </a:ext>
            </a:extLst>
          </p:cNvPr>
          <p:cNvSpPr>
            <a:spLocks noGrp="1"/>
          </p:cNvSpPr>
          <p:nvPr>
            <p:ph idx="1"/>
          </p:nvPr>
        </p:nvSpPr>
        <p:spPr>
          <a:xfrm>
            <a:off x="779103" y="1766407"/>
            <a:ext cx="9905999" cy="3541714"/>
          </a:xfrm>
        </p:spPr>
        <p:txBody>
          <a:bodyPr>
            <a:normAutofit fontScale="85000" lnSpcReduction="10000"/>
          </a:bodyPr>
          <a:lstStyle/>
          <a:p>
            <a:pPr lvl="0"/>
            <a:endParaRPr lang="en-US" dirty="0">
              <a:latin typeface="Tahoma" panose="020B0604030504040204" pitchFamily="34" charset="0"/>
              <a:ea typeface="Tahoma" panose="020B0604030504040204" pitchFamily="34" charset="0"/>
              <a:cs typeface="Tahoma" panose="020B0604030504040204" pitchFamily="34" charset="0"/>
            </a:endParaRPr>
          </a:p>
          <a:p>
            <a:pPr lvl="1"/>
            <a:r>
              <a:rPr lang="en-US" sz="2400" dirty="0">
                <a:latin typeface="Tahoma" panose="020B0604030504040204" pitchFamily="34" charset="0"/>
                <a:ea typeface="Tahoma" panose="020B0604030504040204" pitchFamily="34" charset="0"/>
                <a:cs typeface="Tahoma" panose="020B0604030504040204" pitchFamily="34" charset="0"/>
              </a:rPr>
              <a:t>Implement role‑based access control (RBAC) to limit who can read/write code.</a:t>
            </a:r>
          </a:p>
          <a:p>
            <a:pPr lvl="0"/>
            <a:endParaRPr lang="en-US" dirty="0">
              <a:latin typeface="Tahoma" panose="020B0604030504040204" pitchFamily="34" charset="0"/>
              <a:ea typeface="Tahoma" panose="020B0604030504040204" pitchFamily="34" charset="0"/>
              <a:cs typeface="Tahoma" panose="020B0604030504040204" pitchFamily="34" charset="0"/>
            </a:endParaRPr>
          </a:p>
          <a:p>
            <a:pPr lvl="1"/>
            <a:r>
              <a:rPr lang="en-US" sz="2400" dirty="0">
                <a:latin typeface="Tahoma" panose="020B0604030504040204" pitchFamily="34" charset="0"/>
                <a:ea typeface="Tahoma" panose="020B0604030504040204" pitchFamily="34" charset="0"/>
                <a:cs typeface="Tahoma" panose="020B0604030504040204" pitchFamily="34" charset="0"/>
              </a:rPr>
              <a:t>Enforce least privilege: only grant necessary permissions.</a:t>
            </a:r>
          </a:p>
          <a:p>
            <a:pPr lvl="0"/>
            <a:endParaRPr lang="en-US" dirty="0">
              <a:latin typeface="Tahoma" panose="020B0604030504040204" pitchFamily="34" charset="0"/>
              <a:ea typeface="Tahoma" panose="020B0604030504040204" pitchFamily="34" charset="0"/>
              <a:cs typeface="Tahoma" panose="020B0604030504040204" pitchFamily="34" charset="0"/>
            </a:endParaRPr>
          </a:p>
          <a:p>
            <a:pPr lvl="1"/>
            <a:r>
              <a:rPr lang="en-US" sz="2400" dirty="0">
                <a:latin typeface="Tahoma" panose="020B0604030504040204" pitchFamily="34" charset="0"/>
                <a:ea typeface="Tahoma" panose="020B0604030504040204" pitchFamily="34" charset="0"/>
                <a:cs typeface="Tahoma" panose="020B0604030504040204" pitchFamily="34" charset="0"/>
              </a:rPr>
              <a:t>Use multi‑factor authentication (MFA) for repository access.</a:t>
            </a:r>
          </a:p>
          <a:p>
            <a:pPr lvl="0"/>
            <a:endParaRPr lang="en-US" dirty="0">
              <a:latin typeface="Tahoma" panose="020B0604030504040204" pitchFamily="34" charset="0"/>
              <a:ea typeface="Tahoma" panose="020B0604030504040204" pitchFamily="34" charset="0"/>
              <a:cs typeface="Tahoma" panose="020B0604030504040204" pitchFamily="34" charset="0"/>
            </a:endParaRPr>
          </a:p>
          <a:p>
            <a:pPr lvl="1"/>
            <a:r>
              <a:rPr lang="en-US" sz="2400" dirty="0">
                <a:latin typeface="Tahoma" panose="020B0604030504040204" pitchFamily="34" charset="0"/>
                <a:ea typeface="Tahoma" panose="020B0604030504040204" pitchFamily="34" charset="0"/>
                <a:cs typeface="Tahoma" panose="020B0604030504040204" pitchFamily="34" charset="0"/>
              </a:rPr>
              <a:t>Regularly audit user accounts and remove inactive contributors.</a:t>
            </a:r>
          </a:p>
        </p:txBody>
      </p:sp>
    </p:spTree>
    <p:extLst>
      <p:ext uri="{BB962C8B-B14F-4D97-AF65-F5344CB8AC3E}">
        <p14:creationId xmlns:p14="http://schemas.microsoft.com/office/powerpoint/2010/main" val="3253689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951631" y="75054"/>
            <a:ext cx="10486995" cy="1478570"/>
          </a:xfrm>
        </p:spPr>
        <p:txBody>
          <a:bodyPr>
            <a:normAutofit/>
          </a:bodyPr>
          <a:lstStyle/>
          <a:p>
            <a:r>
              <a:rPr lang="en-US" sz="4400" dirty="0">
                <a:latin typeface="Rockwell" panose="02060603020205020403" pitchFamily="18" charset="0"/>
              </a:rPr>
              <a:t>Secret Management &amp; Scanning</a:t>
            </a:r>
          </a:p>
        </p:txBody>
      </p:sp>
      <p:graphicFrame>
        <p:nvGraphicFramePr>
          <p:cNvPr id="4" name="Content Placeholder 3">
            <a:extLst>
              <a:ext uri="{FF2B5EF4-FFF2-40B4-BE49-F238E27FC236}">
                <a16:creationId xmlns:a16="http://schemas.microsoft.com/office/drawing/2014/main" id="{242FA989-6B7C-488C-85ED-CB8D01BA3254}"/>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1468286111"/>
              </p:ext>
            </p:extLst>
          </p:nvPr>
        </p:nvGraphicFramePr>
        <p:xfrm>
          <a:off x="477061" y="1871331"/>
          <a:ext cx="11314446" cy="4492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3417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p:txBody>
          <a:bodyPr>
            <a:normAutofit/>
          </a:bodyPr>
          <a:lstStyle/>
          <a:p>
            <a:r>
              <a:rPr lang="en-US" sz="4400" dirty="0">
                <a:latin typeface="Rockwell" panose="02060603020205020403" pitchFamily="18" charset="0"/>
              </a:rPr>
              <a:t>Dependency &amp; Vulnerability Management</a:t>
            </a:r>
          </a:p>
        </p:txBody>
      </p:sp>
      <p:sp>
        <p:nvSpPr>
          <p:cNvPr id="3" name="Content Placeholder 2">
            <a:extLst>
              <a:ext uri="{FF2B5EF4-FFF2-40B4-BE49-F238E27FC236}">
                <a16:creationId xmlns:a16="http://schemas.microsoft.com/office/drawing/2014/main" id="{143F5361-68C0-4BF5-80C8-F1E7BF92B2DB}"/>
              </a:ext>
            </a:extLst>
          </p:cNvPr>
          <p:cNvSpPr>
            <a:spLocks noGrp="1"/>
          </p:cNvSpPr>
          <p:nvPr>
            <p:ph sz="half" idx="1"/>
          </p:nvPr>
        </p:nvSpPr>
        <p:spPr>
          <a:xfrm>
            <a:off x="1141410" y="2249486"/>
            <a:ext cx="10150567" cy="3541714"/>
          </a:xfrm>
        </p:spPr>
        <p:txBody>
          <a:bodyPr>
            <a:normAutofit/>
          </a:bodyPr>
          <a:lstStyle/>
          <a:p>
            <a:pPr lvl="1"/>
            <a:r>
              <a:rPr lang="en-US" sz="2400" dirty="0">
                <a:latin typeface="Tahoma" panose="020B0604030504040204" pitchFamily="34" charset="0"/>
                <a:ea typeface="Tahoma" panose="020B0604030504040204" pitchFamily="34" charset="0"/>
                <a:cs typeface="Tahoma" panose="020B0604030504040204" pitchFamily="34" charset="0"/>
              </a:rPr>
              <a:t>Monitor open‑source dependencies for known vulnerabilities.</a:t>
            </a:r>
          </a:p>
          <a:p>
            <a:pPr lvl="1"/>
            <a:r>
              <a:rPr lang="en-US" sz="2400" dirty="0">
                <a:latin typeface="Tahoma" panose="020B0604030504040204" pitchFamily="34" charset="0"/>
                <a:ea typeface="Tahoma" panose="020B0604030504040204" pitchFamily="34" charset="0"/>
                <a:cs typeface="Tahoma" panose="020B0604030504040204" pitchFamily="34" charset="0"/>
              </a:rPr>
              <a:t>Use tools like </a:t>
            </a:r>
            <a:r>
              <a:rPr lang="en-US" sz="2400" dirty="0" err="1">
                <a:latin typeface="Tahoma" panose="020B0604030504040204" pitchFamily="34" charset="0"/>
                <a:ea typeface="Tahoma" panose="020B0604030504040204" pitchFamily="34" charset="0"/>
                <a:cs typeface="Tahoma" panose="020B0604030504040204" pitchFamily="34" charset="0"/>
              </a:rPr>
              <a:t>Dependabot</a:t>
            </a:r>
            <a:r>
              <a:rPr lang="en-US" sz="2400" dirty="0">
                <a:latin typeface="Tahoma" panose="020B0604030504040204" pitchFamily="34" charset="0"/>
                <a:ea typeface="Tahoma" panose="020B0604030504040204" pitchFamily="34" charset="0"/>
                <a:cs typeface="Tahoma" panose="020B0604030504040204" pitchFamily="34" charset="0"/>
              </a:rPr>
              <a:t>, </a:t>
            </a:r>
            <a:r>
              <a:rPr lang="en-US" sz="2400" dirty="0" err="1">
                <a:latin typeface="Tahoma" panose="020B0604030504040204" pitchFamily="34" charset="0"/>
                <a:ea typeface="Tahoma" panose="020B0604030504040204" pitchFamily="34" charset="0"/>
                <a:cs typeface="Tahoma" panose="020B0604030504040204" pitchFamily="34" charset="0"/>
              </a:rPr>
              <a:t>Snyk</a:t>
            </a:r>
            <a:r>
              <a:rPr lang="en-US" sz="2400" dirty="0">
                <a:latin typeface="Tahoma" panose="020B0604030504040204" pitchFamily="34" charset="0"/>
                <a:ea typeface="Tahoma" panose="020B0604030504040204" pitchFamily="34" charset="0"/>
                <a:cs typeface="Tahoma" panose="020B0604030504040204" pitchFamily="34" charset="0"/>
              </a:rPr>
              <a:t>, or </a:t>
            </a:r>
            <a:r>
              <a:rPr lang="en-US" sz="2400" dirty="0" err="1">
                <a:latin typeface="Tahoma" panose="020B0604030504040204" pitchFamily="34" charset="0"/>
                <a:ea typeface="Tahoma" panose="020B0604030504040204" pitchFamily="34" charset="0"/>
                <a:cs typeface="Tahoma" panose="020B0604030504040204" pitchFamily="34" charset="0"/>
              </a:rPr>
              <a:t>Checkmarx</a:t>
            </a:r>
            <a:r>
              <a:rPr lang="en-US" sz="2400" dirty="0">
                <a:latin typeface="Tahoma" panose="020B0604030504040204" pitchFamily="34" charset="0"/>
                <a:ea typeface="Tahoma" panose="020B0604030504040204" pitchFamily="34" charset="0"/>
                <a:cs typeface="Tahoma" panose="020B0604030504040204" pitchFamily="34" charset="0"/>
              </a:rPr>
              <a:t> for automated alerts.</a:t>
            </a:r>
          </a:p>
          <a:p>
            <a:pPr lvl="1"/>
            <a:r>
              <a:rPr lang="en-US" sz="2400" dirty="0">
                <a:latin typeface="Tahoma" panose="020B0604030504040204" pitchFamily="34" charset="0"/>
                <a:ea typeface="Tahoma" panose="020B0604030504040204" pitchFamily="34" charset="0"/>
                <a:cs typeface="Tahoma" panose="020B0604030504040204" pitchFamily="34" charset="0"/>
              </a:rPr>
              <a:t>Apply software composition analysis (SCA) to detect risky libraries.</a:t>
            </a:r>
          </a:p>
          <a:p>
            <a:pPr lvl="1"/>
            <a:r>
              <a:rPr lang="en-US" sz="2400" dirty="0">
                <a:latin typeface="Tahoma" panose="020B0604030504040204" pitchFamily="34" charset="0"/>
                <a:ea typeface="Tahoma" panose="020B0604030504040204" pitchFamily="34" charset="0"/>
                <a:cs typeface="Tahoma" panose="020B0604030504040204" pitchFamily="34" charset="0"/>
              </a:rPr>
              <a:t>Patch and update dependencies promptly to prevent exploitation.</a:t>
            </a:r>
          </a:p>
        </p:txBody>
      </p:sp>
    </p:spTree>
    <p:extLst>
      <p:ext uri="{BB962C8B-B14F-4D97-AF65-F5344CB8AC3E}">
        <p14:creationId xmlns:p14="http://schemas.microsoft.com/office/powerpoint/2010/main" val="1398410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p:txBody>
          <a:bodyPr>
            <a:normAutofit/>
          </a:bodyPr>
          <a:lstStyle/>
          <a:p>
            <a:r>
              <a:rPr lang="en-US" sz="4400" dirty="0">
                <a:latin typeface="Rockwell" panose="02060603020205020403" pitchFamily="18" charset="0"/>
              </a:rPr>
              <a:t>Auditing &amp; Monitoring</a:t>
            </a:r>
          </a:p>
        </p:txBody>
      </p:sp>
      <p:sp>
        <p:nvSpPr>
          <p:cNvPr id="3" name="Content Placeholder 2">
            <a:extLst>
              <a:ext uri="{FF2B5EF4-FFF2-40B4-BE49-F238E27FC236}">
                <a16:creationId xmlns:a16="http://schemas.microsoft.com/office/drawing/2014/main" id="{143F5361-68C0-4BF5-80C8-F1E7BF92B2DB}"/>
              </a:ext>
            </a:extLst>
          </p:cNvPr>
          <p:cNvSpPr>
            <a:spLocks noGrp="1"/>
          </p:cNvSpPr>
          <p:nvPr>
            <p:ph idx="1"/>
          </p:nvPr>
        </p:nvSpPr>
        <p:spPr/>
        <p:txBody>
          <a:bodyPr>
            <a:normAutofit/>
          </a:bodyPr>
          <a:lstStyle/>
          <a:p>
            <a:pPr lvl="1"/>
            <a:r>
              <a:rPr lang="en-US" sz="2400" dirty="0">
                <a:latin typeface="Tahoma" panose="020B0604030504040204" pitchFamily="34" charset="0"/>
                <a:ea typeface="Tahoma" panose="020B0604030504040204" pitchFamily="34" charset="0"/>
                <a:cs typeface="Tahoma" panose="020B0604030504040204" pitchFamily="34" charset="0"/>
              </a:rPr>
              <a:t>Enable audit logs to track repository activity.</a:t>
            </a:r>
          </a:p>
          <a:p>
            <a:pPr lvl="1"/>
            <a:r>
              <a:rPr lang="en-US" sz="2400" dirty="0">
                <a:latin typeface="Tahoma" panose="020B0604030504040204" pitchFamily="34" charset="0"/>
                <a:ea typeface="Tahoma" panose="020B0604030504040204" pitchFamily="34" charset="0"/>
                <a:cs typeface="Tahoma" panose="020B0604030504040204" pitchFamily="34" charset="0"/>
              </a:rPr>
              <a:t>Monitor for unusual commits, branch changes, or access attempts.</a:t>
            </a:r>
          </a:p>
          <a:p>
            <a:pPr lvl="1"/>
            <a:r>
              <a:rPr lang="en-US" sz="2400" dirty="0">
                <a:latin typeface="Tahoma" panose="020B0604030504040204" pitchFamily="34" charset="0"/>
                <a:ea typeface="Tahoma" panose="020B0604030504040204" pitchFamily="34" charset="0"/>
                <a:cs typeface="Tahoma" panose="020B0604030504040204" pitchFamily="34" charset="0"/>
              </a:rPr>
              <a:t>Integrate with SIEM tools for real‑time alerts.</a:t>
            </a:r>
          </a:p>
          <a:p>
            <a:pPr lvl="1"/>
            <a:r>
              <a:rPr lang="en-US" sz="2400" dirty="0">
                <a:latin typeface="Tahoma" panose="020B0604030504040204" pitchFamily="34" charset="0"/>
                <a:ea typeface="Tahoma" panose="020B0604030504040204" pitchFamily="34" charset="0"/>
                <a:cs typeface="Tahoma" panose="020B0604030504040204" pitchFamily="34" charset="0"/>
              </a:rPr>
              <a:t>Continuous monitoring ensures accountability and rapid incident response</a:t>
            </a:r>
          </a:p>
        </p:txBody>
      </p:sp>
    </p:spTree>
    <p:extLst>
      <p:ext uri="{BB962C8B-B14F-4D97-AF65-F5344CB8AC3E}">
        <p14:creationId xmlns:p14="http://schemas.microsoft.com/office/powerpoint/2010/main" val="1348318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p:txBody>
          <a:bodyPr>
            <a:normAutofit/>
          </a:bodyPr>
          <a:lstStyle/>
          <a:p>
            <a:r>
              <a:rPr lang="en-US" sz="4400" dirty="0">
                <a:latin typeface="Rockwell" panose="02060603020205020403" pitchFamily="18" charset="0"/>
              </a:rPr>
              <a:t>References</a:t>
            </a:r>
          </a:p>
        </p:txBody>
      </p:sp>
      <p:sp>
        <p:nvSpPr>
          <p:cNvPr id="3" name="Content Placeholder 2">
            <a:extLst>
              <a:ext uri="{FF2B5EF4-FFF2-40B4-BE49-F238E27FC236}">
                <a16:creationId xmlns:a16="http://schemas.microsoft.com/office/drawing/2014/main" id="{143F5361-68C0-4BF5-80C8-F1E7BF92B2DB}"/>
              </a:ext>
            </a:extLst>
          </p:cNvPr>
          <p:cNvSpPr>
            <a:spLocks noGrp="1"/>
          </p:cNvSpPr>
          <p:nvPr>
            <p:ph idx="1"/>
          </p:nvPr>
        </p:nvSpPr>
        <p:spPr/>
        <p:txBody>
          <a:bodyPr>
            <a:normAutofit fontScale="62500" lnSpcReduction="20000"/>
          </a:bodyPr>
          <a:lstStyle/>
          <a:p>
            <a:r>
              <a:rPr lang="en-US" dirty="0" err="1"/>
              <a:t>Checkmarx</a:t>
            </a:r>
            <a:r>
              <a:rPr lang="en-US" dirty="0"/>
              <a:t>. (2025). </a:t>
            </a:r>
            <a:r>
              <a:rPr lang="en-US" i="1" dirty="0"/>
              <a:t>12 best practices for secure code repositories</a:t>
            </a:r>
            <a:r>
              <a:rPr lang="en-US" dirty="0"/>
              <a:t>. Retrieved from </a:t>
            </a:r>
            <a:r>
              <a:rPr lang="en-US" dirty="0">
                <a:hlinkClick r:id="rId2"/>
              </a:rPr>
              <a:t>https://checkmarx.com</a:t>
            </a:r>
            <a:endParaRPr lang="en-US" dirty="0"/>
          </a:p>
          <a:p>
            <a:r>
              <a:rPr lang="en-US" dirty="0"/>
              <a:t>Orca Security. (2025). </a:t>
            </a:r>
            <a:r>
              <a:rPr lang="en-US" i="1" dirty="0"/>
              <a:t>Source code security best practices</a:t>
            </a:r>
            <a:r>
              <a:rPr lang="en-US" dirty="0"/>
              <a:t>. Retrieved from </a:t>
            </a:r>
            <a:r>
              <a:rPr lang="en-US" dirty="0">
                <a:hlinkClick r:id="rId3"/>
              </a:rPr>
              <a:t>https://orca.security</a:t>
            </a:r>
            <a:endParaRPr lang="en-US" dirty="0"/>
          </a:p>
          <a:p>
            <a:r>
              <a:rPr lang="en-US" dirty="0"/>
              <a:t>Harness. (2025). </a:t>
            </a:r>
            <a:r>
              <a:rPr lang="en-US" i="1" dirty="0"/>
              <a:t>Best practices for securing code repositories</a:t>
            </a:r>
            <a:r>
              <a:rPr lang="en-US" dirty="0"/>
              <a:t>. Retrieved from </a:t>
            </a:r>
            <a:r>
              <a:rPr lang="en-US" dirty="0">
                <a:hlinkClick r:id="rId4"/>
              </a:rPr>
              <a:t>https://harness.io</a:t>
            </a:r>
            <a:endParaRPr lang="en-US" dirty="0"/>
          </a:p>
          <a:p>
            <a:r>
              <a:rPr lang="en-US" dirty="0"/>
              <a:t>GitHub Docs. (2025). </a:t>
            </a:r>
            <a:r>
              <a:rPr lang="en-US" i="1" dirty="0" err="1"/>
              <a:t>Quickstart</a:t>
            </a:r>
            <a:r>
              <a:rPr lang="en-US" i="1" dirty="0"/>
              <a:t> for securing your repository</a:t>
            </a:r>
            <a:r>
              <a:rPr lang="en-US" dirty="0"/>
              <a:t>. Retrieved from </a:t>
            </a:r>
            <a:r>
              <a:rPr lang="en-US" dirty="0">
                <a:hlinkClick r:id="rId5"/>
              </a:rPr>
              <a:t>https://docs.github.com</a:t>
            </a:r>
            <a:endParaRPr lang="en-US" dirty="0"/>
          </a:p>
          <a:p>
            <a:r>
              <a:rPr lang="en-US" dirty="0" err="1"/>
              <a:t>Assembla</a:t>
            </a:r>
            <a:r>
              <a:rPr lang="en-US" dirty="0"/>
              <a:t>. (2025). </a:t>
            </a:r>
            <a:r>
              <a:rPr lang="en-US" i="1" dirty="0"/>
              <a:t>Source code security best practices: A complete guide</a:t>
            </a:r>
            <a:r>
              <a:rPr lang="en-US" dirty="0"/>
              <a:t>. Retrieved from </a:t>
            </a:r>
            <a:r>
              <a:rPr lang="en-US" dirty="0">
                <a:hlinkClick r:id="rId6"/>
              </a:rPr>
              <a:t>https://get.assembla.com</a:t>
            </a:r>
            <a:endParaRPr lang="en-US" dirty="0"/>
          </a:p>
          <a:p>
            <a:r>
              <a:rPr lang="en-US" dirty="0" err="1"/>
              <a:t>TechZenFlow</a:t>
            </a:r>
            <a:r>
              <a:rPr lang="en-US" dirty="0"/>
              <a:t>. (2025). </a:t>
            </a:r>
            <a:r>
              <a:rPr lang="en-US" i="1" dirty="0"/>
              <a:t>Security and compliance comparison: GitHub, GitLab, Bitbucket</a:t>
            </a:r>
            <a:r>
              <a:rPr lang="en-US" dirty="0"/>
              <a:t>. Retrieved from </a:t>
            </a:r>
            <a:r>
              <a:rPr lang="en-US" dirty="0">
                <a:hlinkClick r:id="rId7"/>
              </a:rPr>
              <a:t>https://techzenflow.com</a:t>
            </a:r>
            <a:endParaRPr lang="en-US" dirty="0"/>
          </a:p>
          <a:p>
            <a:r>
              <a:rPr lang="en-US" dirty="0"/>
              <a:t>Microsoft Learn. (2025). </a:t>
            </a:r>
            <a:r>
              <a:rPr lang="en-US" i="1" dirty="0"/>
              <a:t>Make your Azure DevOps secure</a:t>
            </a:r>
            <a:r>
              <a:rPr lang="en-US" dirty="0"/>
              <a:t>. Retrieved from </a:t>
            </a:r>
            <a:r>
              <a:rPr lang="en-US" dirty="0">
                <a:hlinkClick r:id="rId8"/>
              </a:rPr>
              <a:t>https://learn.microsoft.com</a:t>
            </a:r>
            <a:endParaRPr lang="en-US" dirty="0"/>
          </a:p>
          <a:p>
            <a:r>
              <a:rPr lang="en-US" dirty="0" err="1"/>
              <a:t>Canarys</a:t>
            </a:r>
            <a:r>
              <a:rPr lang="en-US" dirty="0"/>
              <a:t>. (2025). </a:t>
            </a:r>
            <a:r>
              <a:rPr lang="en-US" i="1" dirty="0"/>
              <a:t>5 best practices to secure Azure DevOps projects</a:t>
            </a:r>
            <a:r>
              <a:rPr lang="en-US" dirty="0"/>
              <a:t>. Retrieved from </a:t>
            </a:r>
            <a:r>
              <a:rPr lang="en-US" dirty="0">
                <a:hlinkClick r:id="rId9"/>
              </a:rPr>
              <a:t>https://ecanarys.com</a:t>
            </a:r>
            <a:endParaRPr lang="en-US" dirty="0"/>
          </a:p>
          <a:p>
            <a:pPr lvl="1"/>
            <a:endParaRPr lang="en-US" sz="2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9195569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TF77815013_Problem-solution cycle_RVA_v3" id="{20834410-FC37-46AC-ACB7-FB202F8C4BA9}" vid="{1ED24379-BFF7-4E2F-B7EC-A47C906E21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7866CFD-F94E-4AE5-ACEA-86FEC0F48A10}">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579702B-25C7-40D7-9E29-7686B11A9660}">
  <ds:schemaRefs>
    <ds:schemaRef ds:uri="http://schemas.microsoft.com/sharepoint/v3/contenttype/forms"/>
  </ds:schemaRefs>
</ds:datastoreItem>
</file>

<file path=customXml/itemProps3.xml><?xml version="1.0" encoding="utf-8"?>
<ds:datastoreItem xmlns:ds="http://schemas.openxmlformats.org/officeDocument/2006/customXml" ds:itemID="{A7C0B241-13E5-418D-8920-D23491E2D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Problemsolution cycle </Template>
  <TotalTime>18</TotalTime>
  <Words>456</Words>
  <Application>Microsoft Office PowerPoint</Application>
  <PresentationFormat>Widescreen</PresentationFormat>
  <Paragraphs>41</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Rockwell</vt:lpstr>
      <vt:lpstr>Tahoma</vt:lpstr>
      <vt:lpstr>Tw Cen MT</vt:lpstr>
      <vt:lpstr>Wingdings</vt:lpstr>
      <vt:lpstr>Circuit</vt:lpstr>
      <vt:lpstr>Security Controls in Shared Source Code Repositories</vt:lpstr>
      <vt:lpstr>Why Security Controls Matter</vt:lpstr>
      <vt:lpstr>Access Control &amp; Permissions</vt:lpstr>
      <vt:lpstr>Secret Management &amp; Scanning</vt:lpstr>
      <vt:lpstr>Dependency &amp; Vulnerability Management</vt:lpstr>
      <vt:lpstr>Auditing &amp; Monitoring</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colby king</dc:creator>
  <cp:lastModifiedBy>colby king</cp:lastModifiedBy>
  <cp:revision>1</cp:revision>
  <dcterms:created xsi:type="dcterms:W3CDTF">2025-12-24T03:28:24Z</dcterms:created>
  <dcterms:modified xsi:type="dcterms:W3CDTF">2025-12-24T03:46:37Z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